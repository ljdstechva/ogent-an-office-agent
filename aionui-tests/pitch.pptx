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4337eb26aaf4be6" /><Relationship Type="http://schemas.openxmlformats.org/package/2006/relationships/metadata/core-properties" Target="/docProps/core.xml" Id="R79a5ec5f85bb47da" /><Relationship Type="http://schemas.openxmlformats.org/officeDocument/2006/relationships/extended-properties" Target="/docProps/app.xml" Id="R0f912eb967ef45ac" /><Relationship Type="http://schemas.openxmlformats.org/officeDocument/2006/relationships/custom-properties" Target="/docProps/custom.xml" Id="R6e9a503ddc9749b9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bbaf19122b454c7a"/>
    <p:sldId id="257" r:id="R0913f77bcb8e4159"/>
    <p:sldId id="258" r:id="Rcf455462b80a43fe"/>
    <p:sldId id="259" r:id="R198c78e4950647c7"/>
    <p:sldId id="260" r:id="Rd93f9c37d97541ae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baf19122b454c7a" /><Relationship Type="http://schemas.openxmlformats.org/officeDocument/2006/relationships/slide" Target="/ppt/slides/slide2.xml" Id="R0913f77bcb8e4159" /><Relationship Type="http://schemas.openxmlformats.org/officeDocument/2006/relationships/slide" Target="/ppt/slides/slide3.xml" Id="Rcf455462b80a43fe" /><Relationship Type="http://schemas.openxmlformats.org/officeDocument/2006/relationships/slide" Target="/ppt/slides/slide4.xml" Id="R198c78e4950647c7" /><Relationship Type="http://schemas.openxmlformats.org/officeDocument/2006/relationships/slide" Target="/ppt/slides/slide5.xml" Id="Rd93f9c37d97541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Introduce GreenGrid as the operating layer for distributed energy flexibility and frame the company overview.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Explain the mismatch between fast-changing demand and slow physical upgrades. Emphasize that existing flexible capacity is fragmented.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operating loop: sense local constraints, optimize the asset portfolio, and dispatch verified flexibility.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Frame the illustrative market outlook as a clear growth signal: the opportunity rises from $2B in 2024 to $5B in 2026.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on the operating vision: faster connections, lower system cost, and cleaner peak power enabled by coordinated flexibility.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b48dc161e4d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ace0b3b334f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b3a7d88634e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1d33613cb40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62d2a7e67443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39d8f56f910420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4e00a35cd45e9" /><Relationship Type="http://schemas.openxmlformats.org/officeDocument/2006/relationships/notesSlide" Target="/ppt/notesSlides/notesSlide1.xml" Id="Rc87da6311bbd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0f10d7e254210" /><Relationship Type="http://schemas.openxmlformats.org/officeDocument/2006/relationships/notesSlide" Target="/ppt/notesSlides/notesSlide2.xml" Id="Ra0c3b621535f4a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82789391d45cb" /><Relationship Type="http://schemas.openxmlformats.org/officeDocument/2006/relationships/notesSlide" Target="/ppt/notesSlides/notesSlide3.xml" Id="R316b00d0196042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ef0d3dba41fe" /><Relationship Type="http://schemas.openxmlformats.org/officeDocument/2006/relationships/chart" Target="/ppt/slides/charts/chart1.xml" Id="R5b77a95e430a4b04" /><Relationship Type="http://schemas.openxmlformats.org/officeDocument/2006/relationships/notesSlide" Target="/ppt/notesSlides/notesSlide4.xml" Id="R1718d7711a6e48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005b823fe446b" /><Relationship Type="http://schemas.openxmlformats.org/officeDocument/2006/relationships/notesSlide" Target="/ppt/notesSlides/notesSlide5.xml" Id="R6df3da6a69a84ff8" /></Relationships>
</file>

<file path=ppt/slides/charts/chart1.xml><?xml version="1.0" encoding="utf-8"?>
<c:chartSpace xmlns:a="http://schemas.openxmlformats.org/drawingml/2006/main"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/>
            </a:pPr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Market Size ($B)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Market Size</c:v>
          </c:tx>
          <c:spPr>
            <a:solidFill xmlns:a="http://schemas.openxmlformats.org/drawingml/2006/main">
              <a:srgbClr val="2DE38C"/>
            </a:solidFill>
          </c:spPr>
          <c:invertIfNegative val="0"/>
          <c:cat>
            <c:strLit>
              <c:ptCount val="3"/>
              <c:pt idx="0">
                <c:v>2024</c:v>
              </c:pt>
              <c:pt idx="1">
                <c:v>2025</c:v>
              </c:pt>
              <c:pt idx="2">
                <c:v>2026</c:v>
              </c:pt>
            </c:strLit>
          </c:cat>
          <c:val>
            <c:numLit>
              <c:formatCode>General</c:formatCode>
              <c:ptCount val="3"/>
              <c:pt idx="0">
                <c:v>2</c:v>
              </c:pt>
              <c:pt idx="1">
                <c:v>3.5</c:v>
              </c:pt>
              <c:pt idx="2">
                <c:v>5</c:v>
              </c:pt>
            </c:numLit>
          </c:val>
        </c:ser>
        <c:dLbls>
          <c:txPr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FFFFFF"/>
                  </a:solidFill>
                  <a:latin typeface="Calibri"/>
                  <a:ea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</c:dLbls>
        <c:gapWidth val="9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xmlns:a="http://schemas.openxmlformats.org/drawingml/2006/main" w="6350">
            <a:solidFill>
              <a:srgbClr val="FFFFFF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Calibri"/>
                <a:ea typeface="Calibri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3A5360"/>
              </a:solidFill>
            </a:ln>
          </c:spPr>
        </c:majorGridlines>
        <c:numFmt formatCode="0.#" sourceLinked="0"/>
        <c:majorTickMark val="out"/>
        <c:minorTickMark val="none"/>
        <c:tickLblPos val="nextTo"/>
        <c:spPr>
          <a:ln xmlns:a="http://schemas.openxmlformats.org/drawingml/2006/main" w="6350">
            <a:solidFill>
              <a:srgbClr val="FFFFFF"/>
            </a:solidFill>
          </a:ln>
        </c:spPr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  <a:latin typeface="Calibri"/>
                <a:ea typeface="Calibri"/>
              </a:defRPr>
            </a:pPr>
          </a:p>
        </c:txPr>
        <c:crossAx val="1"/>
        <c:crosses val="autoZero"/>
        <c:crossBetween val="between"/>
        <c:majorUnit val="1"/>
      </c:valAx>
      <c:spPr>
        <a:solidFill xmlns:a="http://schemas.openxmlformats.org/drawingml/2006/main">
          <a:srgbClr val="102A32"/>
        </a:solidFill>
        <a:ln xmlns:a="http://schemas.openxmlformats.org/drawingml/2006/main" w="7620">
          <a:solidFill>
            <a:srgbClr val="1B4351"/>
          </a:solidFill>
        </a:ln>
      </c:spPr>
    </c:plotArea>
    <c:plotVisOnly val="1"/>
    <c:dispBlanksAs val="gap"/>
  </c:chart>
  <c:spPr>
    <a:solidFill xmlns:a="http://schemas.openxmlformats.org/drawingml/2006/main">
      <a:srgbClr val="071820"/>
    </a:solidFill>
  </c:spPr>
</c:chartSpace>
</file>

<file path=ppt/slides/slide1.xml><?xml version="1.0" encoding="utf-8"?>
<p:sld xmlns:a="http://schemas.openxmlformats.org/drawingml/2006/main" xmlns:p="http://schemas.openxmlformats.org/presentationml/2006/main">
  <p:cSld name="GreenGrid Energy">
    <p:bg>
      <p:bgPr>
        <a:solidFill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00" name="OrbitLink1"/>
          <p:cNvSpPr/>
          <p:nvPr/>
        </p:nvSpPr>
        <p:spPr>
          <a:xfrm xmlns:a="http://schemas.openxmlformats.org/drawingml/2006/main" rot="-300000">
            <a:off x="7848000" y="2610000"/>
            <a:ext cx="1512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OrbitLink2"/>
          <p:cNvSpPr/>
          <p:nvPr/>
        </p:nvSpPr>
        <p:spPr>
          <a:xfrm xmlns:a="http://schemas.openxmlformats.org/drawingml/2006/main" rot="-1320000">
            <a:off x="9432000" y="2286000"/>
            <a:ext cx="1332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OrbitLink3"/>
          <p:cNvSpPr/>
          <p:nvPr/>
        </p:nvSpPr>
        <p:spPr>
          <a:xfrm xmlns:a="http://schemas.openxmlformats.org/drawingml/2006/main" rot="2040000">
            <a:off x="9468000" y="3402000"/>
            <a:ext cx="1296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OuterRing"/>
          <p:cNvSpPr/>
          <p:nvPr/>
        </p:nvSpPr>
        <p:spPr>
          <a:xfrm xmlns:a="http://schemas.openxmlformats.org/drawingml/2006/main">
            <a:off x="7812000" y="1188000"/>
            <a:ext cx="3240000" cy="3240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DE38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InnerRing"/>
          <p:cNvSpPr/>
          <p:nvPr/>
        </p:nvSpPr>
        <p:spPr>
          <a:xfrm xmlns:a="http://schemas.openxmlformats.org/drawingml/2006/main">
            <a:off x="8640000" y="2016000"/>
            <a:ext cx="1584000" cy="158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DA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5" name="CoreNode"/>
          <p:cNvSpPr/>
          <p:nvPr/>
        </p:nvSpPr>
        <p:spPr>
          <a:xfrm xmlns:a="http://schemas.openxmlformats.org/drawingml/2006/main">
            <a:off x="9090000" y="2466000"/>
            <a:ext cx="684000" cy="68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G</a:t>
            </a:r>
          </a:p>
        </p:txBody>
      </p:sp>
      <p:sp>
        <p:nvSpPr>
          <p:cNvPr id="100006" name="NodeWest"/>
          <p:cNvSpPr/>
          <p:nvPr/>
        </p:nvSpPr>
        <p:spPr>
          <a:xfrm xmlns:a="http://schemas.openxmlformats.org/drawingml/2006/main">
            <a:off x="7722000" y="252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NodeNorthEast"/>
          <p:cNvSpPr/>
          <p:nvPr/>
        </p:nvSpPr>
        <p:spPr>
          <a:xfrm xmlns:a="http://schemas.openxmlformats.org/drawingml/2006/main">
            <a:off x="10638000" y="189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NodeSouthEast"/>
          <p:cNvSpPr/>
          <p:nvPr/>
        </p:nvSpPr>
        <p:spPr>
          <a:xfrm xmlns:a="http://schemas.openxmlformats.org/drawingml/2006/main">
            <a:off x="10404000" y="3906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9" name="CoverAccent"/>
          <p:cNvSpPr/>
          <p:nvPr/>
        </p:nvSpPr>
        <p:spPr>
          <a:xfrm xmlns:a="http://schemas.openxmlformats.org/drawingml/2006/main">
            <a:off x="540000" y="1620000"/>
            <a:ext cx="50400" cy="37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CoverStrap"/>
          <p:cNvSpPr/>
          <p:nvPr/>
        </p:nvSpPr>
        <p:spPr>
          <a:xfrm xmlns:a="http://schemas.openxmlformats.org/drawingml/2006/main">
            <a:off x="792000" y="5094000"/>
            <a:ext cx="5688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9050">
            <a:solidFill>
              <a:srgbClr val="2DE3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Flexible energy for a faster, cleaner grid</a:t>
            </a:r>
          </a:p>
        </p:txBody>
      </p:sp>
      <p:sp>
        <p:nvSpPr>
          <p:cNvPr id="100011" name="CoverTitle"/>
          <p:cNvSpPr txBox="1"/>
          <p:nvPr/>
        </p:nvSpPr>
        <p:spPr>
          <a:xfrm xmlns:a="http://schemas.openxmlformats.org/drawingml/2006/main">
            <a:off x="792000" y="1800000"/>
            <a:ext cx="68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Trebuchet MS"/>
                <a:ea typeface="Trebuchet MS"/>
              </a:rPr>
              <a:t>GreenGrid Energy</a:t>
            </a:r>
          </a:p>
        </p:txBody>
      </p:sp>
      <p:sp>
        <p:nvSpPr>
          <p:cNvPr id="100012" name="CoverSubtitle"/>
          <p:cNvSpPr txBox="1"/>
          <p:nvPr/>
        </p:nvSpPr>
        <p:spPr>
          <a:xfrm xmlns:a="http://schemas.openxmlformats.org/drawingml/2006/main">
            <a:off x="792000" y="3042000"/>
            <a:ext cx="6912000" cy="84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Calibri"/>
                <a:ea typeface="Calibri"/>
              </a:rPr>
              <a:t>Grid-scale flexibility, delivered at the edge</a:t>
            </a:r>
          </a:p>
        </p:txBody>
      </p:sp>
      <p:sp>
        <p:nvSpPr>
          <p:cNvPr id="100013" name="CoverMeta"/>
          <p:cNvSpPr txBox="1"/>
          <p:nvPr/>
        </p:nvSpPr>
        <p:spPr>
          <a:xfrm xmlns:a="http://schemas.openxmlformats.org/drawingml/2006/main">
            <a:off x="792000" y="4536000"/>
            <a:ext cx="54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Company overview · 2026</a:t>
            </a:r>
          </a:p>
        </p:txBody>
      </p:sp>
      <p:sp>
        <p:nvSpPr>
          <p:cNvPr id="100014" name="SlideNumber1"/>
          <p:cNvSpPr txBox="1"/>
          <p:nvPr/>
        </p:nvSpPr>
        <p:spPr>
          <a:xfrm xmlns:a="http://schemas.openxmlformats.org/drawingml/2006/main">
            <a:off x="11268000" y="6120000"/>
            <a:ext cx="360000" cy="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 name="The Grid Flexibility Gap">
    <p:bg>
      <p:bgPr>
        <a:solidFill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15" name="MotifLinkA2"/>
          <p:cNvSpPr/>
          <p:nvPr/>
        </p:nvSpPr>
        <p:spPr>
          <a:xfrm xmlns:a="http://schemas.openxmlformats.org/drawingml/2006/main" rot="1500000">
            <a:off x="10566000" y="5328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MotifLinkB2"/>
          <p:cNvSpPr/>
          <p:nvPr/>
        </p:nvSpPr>
        <p:spPr>
          <a:xfrm xmlns:a="http://schemas.openxmlformats.org/drawingml/2006/main" rot="-1500000">
            <a:off x="11034000" y="5616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MotifNodeA2"/>
          <p:cNvSpPr/>
          <p:nvPr/>
        </p:nvSpPr>
        <p:spPr>
          <a:xfrm xmlns:a="http://schemas.openxmlformats.org/drawingml/2006/main">
            <a:off x="10476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MotifNodeB2"/>
          <p:cNvSpPr/>
          <p:nvPr/>
        </p:nvSpPr>
        <p:spPr>
          <a:xfrm xmlns:a="http://schemas.openxmlformats.org/drawingml/2006/main">
            <a:off x="10926000" y="6624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MotifNodeC2"/>
          <p:cNvSpPr/>
          <p:nvPr/>
        </p:nvSpPr>
        <p:spPr>
          <a:xfrm xmlns:a="http://schemas.openxmlformats.org/drawingml/2006/main">
            <a:off x="11394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ProblemCard1"/>
          <p:cNvSpPr/>
          <p:nvPr/>
        </p:nvSpPr>
        <p:spPr>
          <a:xfrm xmlns:a="http://schemas.openxmlformats.org/drawingml/2006/main">
            <a:off x="540000" y="2088000"/>
            <a:ext cx="3420000" cy="24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1B43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1" name="ProblemCard2"/>
          <p:cNvSpPr/>
          <p:nvPr/>
        </p:nvSpPr>
        <p:spPr>
          <a:xfrm xmlns:a="http://schemas.openxmlformats.org/drawingml/2006/main">
            <a:off x="4392000" y="2088000"/>
            <a:ext cx="3420000" cy="24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1B43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ProblemCard3"/>
          <p:cNvSpPr/>
          <p:nvPr/>
        </p:nvSpPr>
        <p:spPr>
          <a:xfrm xmlns:a="http://schemas.openxmlformats.org/drawingml/2006/main">
            <a:off x="8244000" y="2088000"/>
            <a:ext cx="3420000" cy="241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1B43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ProblemArrow1"/>
          <p:cNvSpPr/>
          <p:nvPr/>
        </p:nvSpPr>
        <p:spPr>
          <a:xfrm xmlns:a="http://schemas.openxmlformats.org/drawingml/2006/main">
            <a:off x="4050000" y="3042000"/>
            <a:ext cx="252000" cy="306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ProblemArrow2"/>
          <p:cNvSpPr/>
          <p:nvPr/>
        </p:nvSpPr>
        <p:spPr>
          <a:xfrm xmlns:a="http://schemas.openxmlformats.org/drawingml/2006/main">
            <a:off x="7902000" y="3042000"/>
            <a:ext cx="252000" cy="306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ProblemNum1"/>
          <p:cNvSpPr/>
          <p:nvPr/>
        </p:nvSpPr>
        <p:spPr>
          <a:xfrm xmlns:a="http://schemas.openxmlformats.org/drawingml/2006/main">
            <a:off x="756000" y="2286000"/>
            <a:ext cx="558000" cy="5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0026" name="ProblemNum2"/>
          <p:cNvSpPr/>
          <p:nvPr/>
        </p:nvSpPr>
        <p:spPr>
          <a:xfrm xmlns:a="http://schemas.openxmlformats.org/drawingml/2006/main">
            <a:off x="4608000" y="2286000"/>
            <a:ext cx="558000" cy="5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027" name="ProblemNum3"/>
          <p:cNvSpPr/>
          <p:nvPr/>
        </p:nvSpPr>
        <p:spPr>
          <a:xfrm xmlns:a="http://schemas.openxmlformats.org/drawingml/2006/main">
            <a:off x="8460000" y="2286000"/>
            <a:ext cx="558000" cy="55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0028" name="ProblemHead1"/>
          <p:cNvSpPr txBox="1"/>
          <p:nvPr/>
        </p:nvSpPr>
        <p:spPr>
          <a:xfrm xmlns:a="http://schemas.openxmlformats.org/drawingml/2006/main">
            <a:off x="756000" y="2880000"/>
            <a:ext cx="295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Volatile demand</a:t>
            </a:r>
          </a:p>
        </p:txBody>
      </p:sp>
      <p:sp>
        <p:nvSpPr>
          <p:cNvPr id="100029" name="ProblemBody1"/>
          <p:cNvSpPr txBox="1"/>
          <p:nvPr/>
        </p:nvSpPr>
        <p:spPr>
          <a:xfrm xmlns:a="http://schemas.openxmlformats.org/drawingml/2006/main">
            <a:off x="756000" y="3402000"/>
            <a:ext cx="2916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Hourly peaks strain local feeders.</a:t>
            </a:r>
          </a:p>
        </p:txBody>
      </p:sp>
      <p:sp>
        <p:nvSpPr>
          <p:cNvPr id="100030" name="ProblemHead2"/>
          <p:cNvSpPr txBox="1"/>
          <p:nvPr/>
        </p:nvSpPr>
        <p:spPr>
          <a:xfrm xmlns:a="http://schemas.openxmlformats.org/drawingml/2006/main">
            <a:off x="4608000" y="2880000"/>
            <a:ext cx="295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Stranded capacity</a:t>
            </a:r>
          </a:p>
        </p:txBody>
      </p:sp>
      <p:sp>
        <p:nvSpPr>
          <p:cNvPr id="100031" name="ProblemBody2"/>
          <p:cNvSpPr txBox="1"/>
          <p:nvPr/>
        </p:nvSpPr>
        <p:spPr>
          <a:xfrm xmlns:a="http://schemas.openxmlformats.org/drawingml/2006/main">
            <a:off x="4608000" y="3402000"/>
            <a:ext cx="2916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Flexible assets sit behind the meter, unused.</a:t>
            </a:r>
          </a:p>
        </p:txBody>
      </p:sp>
      <p:sp>
        <p:nvSpPr>
          <p:cNvPr id="100032" name="ProblemHead3"/>
          <p:cNvSpPr txBox="1"/>
          <p:nvPr/>
        </p:nvSpPr>
        <p:spPr>
          <a:xfrm xmlns:a="http://schemas.openxmlformats.org/drawingml/2006/main">
            <a:off x="8460000" y="2880000"/>
            <a:ext cx="2952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Slow reinforcement</a:t>
            </a:r>
          </a:p>
        </p:txBody>
      </p:sp>
      <p:sp>
        <p:nvSpPr>
          <p:cNvPr id="100033" name="ProblemBody3"/>
          <p:cNvSpPr txBox="1"/>
          <p:nvPr/>
        </p:nvSpPr>
        <p:spPr>
          <a:xfrm xmlns:a="http://schemas.openxmlformats.org/drawingml/2006/main">
            <a:off x="8460000" y="3402000"/>
            <a:ext cx="2916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Projects wait while physical upgrades catch up.</a:t>
            </a:r>
          </a:p>
        </p:txBody>
      </p:sp>
      <p:sp>
        <p:nvSpPr>
          <p:cNvPr id="100034" name="ProblemTakeaway"/>
          <p:cNvSpPr/>
          <p:nvPr/>
        </p:nvSpPr>
        <p:spPr>
          <a:xfrm xmlns:a="http://schemas.openxmlformats.org/drawingml/2006/main">
            <a:off x="540000" y="5040000"/>
            <a:ext cx="11113200" cy="84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230"/>
          </a:solidFill>
          <a:ln xmlns:a="http://schemas.openxmlformats.org/drawingml/2006/main" w="12700">
            <a:solidFill>
              <a:srgbClr val="2DE3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Capacity exists—but it is not coordinated.</a:t>
            </a:r>
          </a:p>
        </p:txBody>
      </p:sp>
      <p:sp>
        <p:nvSpPr>
          <p:cNvPr id="100035" name="ProblemTitle"/>
          <p:cNvSpPr txBox="1"/>
          <p:nvPr/>
        </p:nvSpPr>
        <p:spPr>
          <a:xfrm xmlns:a="http://schemas.openxmlformats.org/drawingml/2006/main">
            <a:off x="540000" y="378000"/>
            <a:ext cx="918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</a:rPr>
              <a:t>The Grid Flexibility Gap</a:t>
            </a:r>
          </a:p>
        </p:txBody>
      </p:sp>
      <p:sp>
        <p:nvSpPr>
          <p:cNvPr id="100036" name="ProblemSubtitle"/>
          <p:cNvSpPr txBox="1"/>
          <p:nvPr/>
        </p:nvSpPr>
        <p:spPr>
          <a:xfrm xmlns:a="http://schemas.openxmlformats.org/drawingml/2006/main">
            <a:off x="540000" y="1098000"/>
            <a:ext cx="9720000" cy="4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Demand changes in minutes. Grid upgrades take years.</a:t>
            </a:r>
          </a:p>
        </p:txBody>
      </p:sp>
      <p:sp>
        <p:nvSpPr>
          <p:cNvPr id="100037" name="SlideNumber2"/>
          <p:cNvSpPr txBox="1"/>
          <p:nvPr/>
        </p:nvSpPr>
        <p:spPr>
          <a:xfrm xmlns:a="http://schemas.openxmlformats.org/drawingml/2006/main">
            <a:off x="11268000" y="6120000"/>
            <a:ext cx="360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02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 name="The GreenGrid Platform">
    <p:bg>
      <p:bgPr>
        <a:solidFill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38" name="MotifLinkA3"/>
          <p:cNvSpPr/>
          <p:nvPr/>
        </p:nvSpPr>
        <p:spPr>
          <a:xfrm xmlns:a="http://schemas.openxmlformats.org/drawingml/2006/main" rot="1500000">
            <a:off x="10566000" y="5328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MotifLinkB3"/>
          <p:cNvSpPr/>
          <p:nvPr/>
        </p:nvSpPr>
        <p:spPr>
          <a:xfrm xmlns:a="http://schemas.openxmlformats.org/drawingml/2006/main" rot="-1500000">
            <a:off x="11034000" y="5616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MotifNodeA3"/>
          <p:cNvSpPr/>
          <p:nvPr/>
        </p:nvSpPr>
        <p:spPr>
          <a:xfrm xmlns:a="http://schemas.openxmlformats.org/drawingml/2006/main">
            <a:off x="10476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MotifNodeB3"/>
          <p:cNvSpPr/>
          <p:nvPr/>
        </p:nvSpPr>
        <p:spPr>
          <a:xfrm xmlns:a="http://schemas.openxmlformats.org/drawingml/2006/main">
            <a:off x="10926000" y="6624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MotifNodeC3"/>
          <p:cNvSpPr/>
          <p:nvPr/>
        </p:nvSpPr>
        <p:spPr>
          <a:xfrm xmlns:a="http://schemas.openxmlformats.org/drawingml/2006/main">
            <a:off x="11394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SolutionCard1"/>
          <p:cNvSpPr/>
          <p:nvPr/>
        </p:nvSpPr>
        <p:spPr>
          <a:xfrm xmlns:a="http://schemas.openxmlformats.org/drawingml/2006/main">
            <a:off x="540000" y="1800000"/>
            <a:ext cx="3420000" cy="29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SolutionCard2"/>
          <p:cNvSpPr/>
          <p:nvPr/>
        </p:nvSpPr>
        <p:spPr>
          <a:xfrm xmlns:a="http://schemas.openxmlformats.org/drawingml/2006/main">
            <a:off x="4392000" y="1800000"/>
            <a:ext cx="3420000" cy="29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5" name="SolutionCard3"/>
          <p:cNvSpPr/>
          <p:nvPr/>
        </p:nvSpPr>
        <p:spPr>
          <a:xfrm xmlns:a="http://schemas.openxmlformats.org/drawingml/2006/main">
            <a:off x="8244000" y="1800000"/>
            <a:ext cx="3420000" cy="297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SolutionArrow1"/>
          <p:cNvSpPr/>
          <p:nvPr/>
        </p:nvSpPr>
        <p:spPr>
          <a:xfrm xmlns:a="http://schemas.openxmlformats.org/drawingml/2006/main">
            <a:off x="4050000" y="3114000"/>
            <a:ext cx="252000" cy="32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SolutionArrow2"/>
          <p:cNvSpPr/>
          <p:nvPr/>
        </p:nvSpPr>
        <p:spPr>
          <a:xfrm xmlns:a="http://schemas.openxmlformats.org/drawingml/2006/main">
            <a:off x="7902000" y="3114000"/>
            <a:ext cx="252000" cy="324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SolutionNum1"/>
          <p:cNvSpPr/>
          <p:nvPr/>
        </p:nvSpPr>
        <p:spPr>
          <a:xfrm xmlns:a="http://schemas.openxmlformats.org/drawingml/2006/main">
            <a:off x="1962000" y="2070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0049" name="SolutionNum2"/>
          <p:cNvSpPr/>
          <p:nvPr/>
        </p:nvSpPr>
        <p:spPr>
          <a:xfrm xmlns:a="http://schemas.openxmlformats.org/drawingml/2006/main">
            <a:off x="5814000" y="2070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050" name="SolutionNum3"/>
          <p:cNvSpPr/>
          <p:nvPr/>
        </p:nvSpPr>
        <p:spPr>
          <a:xfrm xmlns:a="http://schemas.openxmlformats.org/drawingml/2006/main">
            <a:off x="9666000" y="2070000"/>
            <a:ext cx="576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0051" name="SolutionHead1"/>
          <p:cNvSpPr txBox="1"/>
          <p:nvPr/>
        </p:nvSpPr>
        <p:spPr>
          <a:xfrm xmlns:a="http://schemas.openxmlformats.org/drawingml/2006/main">
            <a:off x="756000" y="2880000"/>
            <a:ext cx="2988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Sense</a:t>
            </a:r>
          </a:p>
        </p:txBody>
      </p:sp>
      <p:sp>
        <p:nvSpPr>
          <p:cNvPr id="100052" name="SolutionBody1"/>
          <p:cNvSpPr txBox="1"/>
          <p:nvPr/>
        </p:nvSpPr>
        <p:spPr>
          <a:xfrm xmlns:a="http://schemas.openxmlformats.org/drawingml/2006/main">
            <a:off x="756000" y="3474000"/>
            <a:ext cx="2988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Forecast constraints and available flexibility.</a:t>
            </a:r>
          </a:p>
        </p:txBody>
      </p:sp>
      <p:sp>
        <p:nvSpPr>
          <p:cNvPr id="100053" name="SolutionHead2"/>
          <p:cNvSpPr txBox="1"/>
          <p:nvPr/>
        </p:nvSpPr>
        <p:spPr>
          <a:xfrm xmlns:a="http://schemas.openxmlformats.org/drawingml/2006/main">
            <a:off x="4608000" y="2880000"/>
            <a:ext cx="2988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Optimize</a:t>
            </a:r>
          </a:p>
        </p:txBody>
      </p:sp>
      <p:sp>
        <p:nvSpPr>
          <p:cNvPr id="100054" name="SolutionBody2"/>
          <p:cNvSpPr txBox="1"/>
          <p:nvPr/>
        </p:nvSpPr>
        <p:spPr>
          <a:xfrm xmlns:a="http://schemas.openxmlformats.org/drawingml/2006/main">
            <a:off x="4608000" y="3474000"/>
            <a:ext cx="2988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Match assets to grid need and market value.</a:t>
            </a:r>
          </a:p>
        </p:txBody>
      </p:sp>
      <p:sp>
        <p:nvSpPr>
          <p:cNvPr id="100055" name="SolutionHead3"/>
          <p:cNvSpPr txBox="1"/>
          <p:nvPr/>
        </p:nvSpPr>
        <p:spPr>
          <a:xfrm xmlns:a="http://schemas.openxmlformats.org/drawingml/2006/main">
            <a:off x="8460000" y="2880000"/>
            <a:ext cx="2988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Dispatch</a:t>
            </a:r>
          </a:p>
        </p:txBody>
      </p:sp>
      <p:sp>
        <p:nvSpPr>
          <p:cNvPr id="100056" name="SolutionBody3"/>
          <p:cNvSpPr txBox="1"/>
          <p:nvPr/>
        </p:nvSpPr>
        <p:spPr>
          <a:xfrm xmlns:a="http://schemas.openxmlformats.org/drawingml/2006/main">
            <a:off x="8460000" y="3474000"/>
            <a:ext cx="2988000" cy="95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Deliver verified capacity in minutes.</a:t>
            </a:r>
          </a:p>
        </p:txBody>
      </p:sp>
      <p:sp>
        <p:nvSpPr>
          <p:cNvPr id="100057" name="SolutionTakeaway"/>
          <p:cNvSpPr/>
          <p:nvPr/>
        </p:nvSpPr>
        <p:spPr>
          <a:xfrm xmlns:a="http://schemas.openxmlformats.org/drawingml/2006/main">
            <a:off x="540000" y="5256000"/>
            <a:ext cx="111132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230"/>
          </a:solidFill>
          <a:ln xmlns:a="http://schemas.openxmlformats.org/drawingml/2006/main" w="12700">
            <a:solidFill>
              <a:srgbClr val="4DA3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A single operating layer turns distributed assets into dependable grid capacity.</a:t>
            </a:r>
          </a:p>
        </p:txBody>
      </p:sp>
      <p:sp>
        <p:nvSpPr>
          <p:cNvPr id="100058" name="SolutionTitle"/>
          <p:cNvSpPr txBox="1"/>
          <p:nvPr/>
        </p:nvSpPr>
        <p:spPr>
          <a:xfrm xmlns:a="http://schemas.openxmlformats.org/drawingml/2006/main">
            <a:off x="540000" y="378000"/>
            <a:ext cx="918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</a:rPr>
              <a:t>The GreenGrid Platform</a:t>
            </a:r>
          </a:p>
        </p:txBody>
      </p:sp>
      <p:sp>
        <p:nvSpPr>
          <p:cNvPr id="100059" name="SolutionSubtitle"/>
          <p:cNvSpPr txBox="1"/>
          <p:nvPr/>
        </p:nvSpPr>
        <p:spPr>
          <a:xfrm xmlns:a="http://schemas.openxmlformats.org/drawingml/2006/main">
            <a:off x="540000" y="1098000"/>
            <a:ext cx="10980000" cy="4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One control layer coordinates distributed batteries and flexible loads.</a:t>
            </a:r>
          </a:p>
        </p:txBody>
      </p:sp>
      <p:sp>
        <p:nvSpPr>
          <p:cNvPr id="100060" name="SlideNumber3"/>
          <p:cNvSpPr txBox="1"/>
          <p:nvPr/>
        </p:nvSpPr>
        <p:spPr>
          <a:xfrm xmlns:a="http://schemas.openxmlformats.org/drawingml/2006/main">
            <a:off x="11268000" y="6120000"/>
            <a:ext cx="360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 name="A $5B Market by 2026">
    <p:bg>
      <p:bgPr>
        <a:solidFill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61" name="MotifLinkA4"/>
          <p:cNvSpPr/>
          <p:nvPr/>
        </p:nvSpPr>
        <p:spPr>
          <a:xfrm xmlns:a="http://schemas.openxmlformats.org/drawingml/2006/main" rot="1500000">
            <a:off x="10566000" y="5328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MotifLinkB4"/>
          <p:cNvSpPr/>
          <p:nvPr/>
        </p:nvSpPr>
        <p:spPr>
          <a:xfrm xmlns:a="http://schemas.openxmlformats.org/drawingml/2006/main" rot="-1500000">
            <a:off x="11034000" y="5616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MotifNodeA4"/>
          <p:cNvSpPr/>
          <p:nvPr/>
        </p:nvSpPr>
        <p:spPr>
          <a:xfrm xmlns:a="http://schemas.openxmlformats.org/drawingml/2006/main">
            <a:off x="10476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MotifNodeB4"/>
          <p:cNvSpPr/>
          <p:nvPr/>
        </p:nvSpPr>
        <p:spPr>
          <a:xfrm xmlns:a="http://schemas.openxmlformats.org/drawingml/2006/main">
            <a:off x="10926000" y="6624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MotifNodeC4"/>
          <p:cNvSpPr/>
          <p:nvPr/>
        </p:nvSpPr>
        <p:spPr>
          <a:xfrm xmlns:a="http://schemas.openxmlformats.org/drawingml/2006/main">
            <a:off x="11394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00066" name="NativeMarketChart"/>
          <p:cNvGraphicFramePr/>
          <p:nvPr/>
        </p:nvGraphicFramePr>
        <p:xfrm>
          <a:off xmlns:a="http://schemas.openxmlformats.org/drawingml/2006/main" x="540000" y="1602000"/>
          <a:ext xmlns:a="http://schemas.openxmlformats.org/drawingml/2006/main" cx="8280000" cy="453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77a95e430a4b04"/>
          </a:graphicData>
        </a:graphic>
      </p:graphicFrame>
      <p:sp>
        <p:nvSpPr>
          <p:cNvPr id="100067" name="MarketCalloutCard"/>
          <p:cNvSpPr/>
          <p:nvPr/>
        </p:nvSpPr>
        <p:spPr>
          <a:xfrm xmlns:a="http://schemas.openxmlformats.org/drawingml/2006/main">
            <a:off x="9144000" y="1890000"/>
            <a:ext cx="2412000" cy="320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9050">
            <a:solidFill>
              <a:srgbClr val="2DE3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8" name="MarketGrowthMetric"/>
          <p:cNvSpPr txBox="1"/>
          <p:nvPr/>
        </p:nvSpPr>
        <p:spPr>
          <a:xfrm xmlns:a="http://schemas.openxmlformats.org/drawingml/2006/main">
            <a:off x="9360000" y="2214000"/>
            <a:ext cx="1980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600" b="1">
                <a:solidFill>
                  <a:srgbClr val="FFFFFF"/>
                </a:solidFill>
                <a:latin typeface="Trebuchet MS"/>
                <a:ea typeface="Trebuchet MS"/>
              </a:rPr>
              <a:t>2.5x</a:t>
            </a:r>
          </a:p>
        </p:txBody>
      </p:sp>
      <p:sp>
        <p:nvSpPr>
          <p:cNvPr id="100069" name="MarketGrowthLabel"/>
          <p:cNvSpPr txBox="1"/>
          <p:nvPr/>
        </p:nvSpPr>
        <p:spPr>
          <a:xfrm xmlns:a="http://schemas.openxmlformats.org/drawingml/2006/main">
            <a:off x="9360000" y="3132000"/>
            <a:ext cx="1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growth | 2024-2026</a:t>
            </a:r>
          </a:p>
        </p:txBody>
      </p:sp>
      <p:sp>
        <p:nvSpPr>
          <p:cNvPr id="100070" name="MarketDivider"/>
          <p:cNvSpPr/>
          <p:nvPr/>
        </p:nvSpPr>
        <p:spPr>
          <a:xfrm xmlns:a="http://schemas.openxmlformats.org/drawingml/2006/main">
            <a:off x="9522000" y="4050000"/>
            <a:ext cx="1656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MarketEndValue"/>
          <p:cNvSpPr txBox="1"/>
          <p:nvPr/>
        </p:nvSpPr>
        <p:spPr>
          <a:xfrm xmlns:a="http://schemas.openxmlformats.org/drawingml/2006/main">
            <a:off x="9360000" y="4230000"/>
            <a:ext cx="19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1">
                <a:solidFill>
                  <a:srgbClr val="FFFFFF"/>
                </a:solidFill>
                <a:latin typeface="Trebuchet MS"/>
                <a:ea typeface="Trebuchet MS"/>
              </a:rPr>
              <a:t>$5B</a:t>
            </a:r>
          </a:p>
        </p:txBody>
      </p:sp>
      <p:sp>
        <p:nvSpPr>
          <p:cNvPr id="100072" name="MarketTitle"/>
          <p:cNvSpPr txBox="1"/>
          <p:nvPr/>
        </p:nvSpPr>
        <p:spPr>
          <a:xfrm xmlns:a="http://schemas.openxmlformats.org/drawingml/2006/main">
            <a:off x="540000" y="378000"/>
            <a:ext cx="918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</a:rPr>
              <a:t>A $5B Market by 2026</a:t>
            </a:r>
          </a:p>
        </p:txBody>
      </p:sp>
      <p:sp>
        <p:nvSpPr>
          <p:cNvPr id="100073" name="MarketSubtitle"/>
          <p:cNvSpPr txBox="1"/>
          <p:nvPr/>
        </p:nvSpPr>
        <p:spPr>
          <a:xfrm xmlns:a="http://schemas.openxmlformats.org/drawingml/2006/main">
            <a:off x="540000" y="1098000"/>
            <a:ext cx="82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Illustrative three-year outlook</a:t>
            </a:r>
          </a:p>
        </p:txBody>
      </p:sp>
      <p:sp>
        <p:nvSpPr>
          <p:cNvPr id="100074" name="SlideNumber4"/>
          <p:cNvSpPr txBox="1"/>
          <p:nvPr/>
        </p:nvSpPr>
        <p:spPr>
          <a:xfrm xmlns:a="http://schemas.openxmlformats.org/drawingml/2006/main">
            <a:off x="11268000" y="6120000"/>
            <a:ext cx="360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04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 name="The Adaptive Grid">
    <p:bg>
      <p:bgPr>
        <a:solidFill>
          <a:srgbClr val="071820"/>
        </a:solidFill>
      </p:bgPr>
    </p:bg>
    <p:spTree>
      <p:nvGrpSpPr>
        <p:cNvPr id="1" name=""/>
        <p:cNvGrpSpPr/>
        <p:nvPr/>
      </p:nvGrpSpPr>
      <p:grpSpPr/>
      <p:sp>
        <p:nvSpPr>
          <p:cNvPr id="100075" name="MotifLinkA5"/>
          <p:cNvSpPr/>
          <p:nvPr/>
        </p:nvSpPr>
        <p:spPr>
          <a:xfrm xmlns:a="http://schemas.openxmlformats.org/drawingml/2006/main" rot="1500000">
            <a:off x="10566000" y="5328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38C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6" name="MotifLinkB5"/>
          <p:cNvSpPr/>
          <p:nvPr/>
        </p:nvSpPr>
        <p:spPr>
          <a:xfrm xmlns:a="http://schemas.openxmlformats.org/drawingml/2006/main" rot="-1500000">
            <a:off x="11034000" y="561600"/>
            <a:ext cx="486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7" name="MotifNodeA5"/>
          <p:cNvSpPr/>
          <p:nvPr/>
        </p:nvSpPr>
        <p:spPr>
          <a:xfrm xmlns:a="http://schemas.openxmlformats.org/drawingml/2006/main">
            <a:off x="10476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MotifNodeB5"/>
          <p:cNvSpPr/>
          <p:nvPr/>
        </p:nvSpPr>
        <p:spPr>
          <a:xfrm xmlns:a="http://schemas.openxmlformats.org/drawingml/2006/main">
            <a:off x="10926000" y="6624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MotifNodeC5"/>
          <p:cNvSpPr/>
          <p:nvPr/>
        </p:nvSpPr>
        <p:spPr>
          <a:xfrm xmlns:a="http://schemas.openxmlformats.org/drawingml/2006/main">
            <a:off x="11394000" y="424800"/>
            <a:ext cx="165600" cy="16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0" name="CloseOuterRing"/>
          <p:cNvSpPr/>
          <p:nvPr/>
        </p:nvSpPr>
        <p:spPr>
          <a:xfrm xmlns:a="http://schemas.openxmlformats.org/drawingml/2006/main">
            <a:off x="8424000" y="1116000"/>
            <a:ext cx="2808000" cy="280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DE38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1" name="CloseInnerRing"/>
          <p:cNvSpPr/>
          <p:nvPr/>
        </p:nvSpPr>
        <p:spPr>
          <a:xfrm xmlns:a="http://schemas.openxmlformats.org/drawingml/2006/main">
            <a:off x="9090000" y="1782000"/>
            <a:ext cx="1476000" cy="1476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DA3F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2" name="CloseCore"/>
          <p:cNvSpPr/>
          <p:nvPr/>
        </p:nvSpPr>
        <p:spPr>
          <a:xfrm xmlns:a="http://schemas.openxmlformats.org/drawingml/2006/main">
            <a:off x="9460800" y="2152800"/>
            <a:ext cx="72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G</a:t>
            </a:r>
          </a:p>
        </p:txBody>
      </p:sp>
      <p:sp>
        <p:nvSpPr>
          <p:cNvPr id="100083" name="CloseNodeWest"/>
          <p:cNvSpPr/>
          <p:nvPr/>
        </p:nvSpPr>
        <p:spPr>
          <a:xfrm xmlns:a="http://schemas.openxmlformats.org/drawingml/2006/main">
            <a:off x="8298000" y="2358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4" name="CloseNodeNorth"/>
          <p:cNvSpPr/>
          <p:nvPr/>
        </p:nvSpPr>
        <p:spPr>
          <a:xfrm xmlns:a="http://schemas.openxmlformats.org/drawingml/2006/main">
            <a:off x="10422000" y="1170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38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CloseNodeSouth"/>
          <p:cNvSpPr/>
          <p:nvPr/>
        </p:nvSpPr>
        <p:spPr>
          <a:xfrm xmlns:a="http://schemas.openxmlformats.org/drawingml/2006/main">
            <a:off x="10656000" y="3366000"/>
            <a:ext cx="288000" cy="28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CloseTitle"/>
          <p:cNvSpPr txBox="1"/>
          <p:nvPr/>
        </p:nvSpPr>
        <p:spPr>
          <a:xfrm xmlns:a="http://schemas.openxmlformats.org/drawingml/2006/main">
            <a:off x="540000" y="774000"/>
            <a:ext cx="7380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The Adaptive Grid</a:t>
            </a:r>
          </a:p>
        </p:txBody>
      </p:sp>
      <p:sp>
        <p:nvSpPr>
          <p:cNvPr id="100087" name="CloseBody"/>
          <p:cNvSpPr txBox="1"/>
          <p:nvPr/>
        </p:nvSpPr>
        <p:spPr>
          <a:xfrm xmlns:a="http://schemas.openxmlformats.org/drawingml/2006/main">
            <a:off x="540000" y="1854000"/>
            <a:ext cx="7092000" cy="12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>
                <a:solidFill>
                  <a:srgbClr val="FFFFFF"/>
                </a:solidFill>
                <a:latin typeface="Calibri"/>
                <a:ea typeface="Calibri"/>
              </a:rPr>
              <a:t>GreenGrid converts flexible assets into reliable capacity—where and when the grid needs it.</a:t>
            </a:r>
          </a:p>
        </p:txBody>
      </p:sp>
      <p:sp>
        <p:nvSpPr>
          <p:cNvPr id="100088" name="CloseChip1"/>
          <p:cNvSpPr/>
          <p:nvPr/>
        </p:nvSpPr>
        <p:spPr>
          <a:xfrm xmlns:a="http://schemas.openxmlformats.org/drawingml/2006/main">
            <a:off x="540000" y="3834000"/>
            <a:ext cx="3366000" cy="5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Faster connections</a:t>
            </a:r>
          </a:p>
        </p:txBody>
      </p:sp>
      <p:sp>
        <p:nvSpPr>
          <p:cNvPr id="100089" name="CloseChip2"/>
          <p:cNvSpPr/>
          <p:nvPr/>
        </p:nvSpPr>
        <p:spPr>
          <a:xfrm xmlns:a="http://schemas.openxmlformats.org/drawingml/2006/main">
            <a:off x="4410000" y="3834000"/>
            <a:ext cx="3366000" cy="5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Lower system cost</a:t>
            </a:r>
          </a:p>
        </p:txBody>
      </p:sp>
      <p:sp>
        <p:nvSpPr>
          <p:cNvPr id="100090" name="CloseChip3"/>
          <p:cNvSpPr/>
          <p:nvPr/>
        </p:nvSpPr>
        <p:spPr>
          <a:xfrm xmlns:a="http://schemas.openxmlformats.org/drawingml/2006/main">
            <a:off x="8280000" y="3834000"/>
            <a:ext cx="3366000" cy="57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2A32"/>
          </a:solidFill>
          <a:ln xmlns:a="http://schemas.openxmlformats.org/drawingml/2006/main" w="12700">
            <a:solidFill>
              <a:srgbClr val="2DE38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Cleaner peak power</a:t>
            </a:r>
          </a:p>
        </p:txBody>
      </p:sp>
      <p:sp>
        <p:nvSpPr>
          <p:cNvPr id="100091" name="CloseCTA"/>
          <p:cNvSpPr/>
          <p:nvPr/>
        </p:nvSpPr>
        <p:spPr>
          <a:xfrm xmlns:a="http://schemas.openxmlformats.org/drawingml/2006/main">
            <a:off x="540000" y="5094000"/>
            <a:ext cx="11106000" cy="81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2230"/>
          </a:solidFill>
          <a:ln xmlns:a="http://schemas.openxmlformats.org/drawingml/2006/main" w="19050">
            <a:solidFill>
              <a:srgbClr val="4DA3FF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Trebuchet MS"/>
                <a:ea typeface="Trebuchet MS"/>
              </a:rPr>
              <a:t>Build the next layer of grid infrastructure.</a:t>
            </a:r>
          </a:p>
        </p:txBody>
      </p:sp>
      <p:sp>
        <p:nvSpPr>
          <p:cNvPr id="100092" name="SlideNumber5"/>
          <p:cNvSpPr txBox="1"/>
          <p:nvPr/>
        </p:nvSpPr>
        <p:spPr>
          <a:xfrm xmlns:a="http://schemas.openxmlformats.org/drawingml/2006/main">
            <a:off x="11268000" y="6120000"/>
            <a:ext cx="360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100">
                <a:solidFill>
                  <a:srgbClr val="FFFFFF"/>
                </a:solidFill>
                <a:latin typeface="Calibri"/>
                <a:ea typeface="Calibri"/>
              </a:rPr>
              <a:t>05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71820"/>
      </a:dk1>
      <a:lt1>
        <a:srgbClr val="FFFFFF"/>
      </a:lt1>
      <a:dk2>
        <a:srgbClr val="44546A"/>
      </a:dk2>
      <a:lt2>
        <a:srgbClr val="E7E6E6"/>
      </a:lt2>
      <a:accent1>
        <a:srgbClr val="2DE38C"/>
      </a:accent1>
      <a:accent2>
        <a:srgbClr val="4DA3F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  <ap:Company>Ogent</ap:Compan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Ogent</dc:creator>
  <dcterms:created xsi:type="dcterms:W3CDTF">2026-07-22T10:39:40.0000000Z</dcterms:created>
  <lastModifiedBy>Ogent</lastModifiedBy>
  <dcterms:modified xsi:type="dcterms:W3CDTF">2026-07-22T13:29:32.9796457Z</dcterms:modified>
  <dc:title>GreenGrid Energy</dc:title>
  <dc:subject>Grid flexibility platform overview</dc:subject>
  <dc:description>Five-slide overview of GreenGrid Energy</dc:description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2026-07-22T13:29:33Z</vt:lpwstr>
  </op:property>
</op:Properties>
</file>